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Clasificación inteligente de incidentes tecnológicos</a:t>
            </a:r>
          </a:p>
          <a:p>
            <a:pPr>
              <a:defRPr sz="1300">
                <a:solidFill>
                  <a:srgbClr val="0284C7"/>
                </a:solidFill>
                <a:latin typeface="Arial"/>
              </a:defRPr>
            </a:pPr>
            <a:r>
              <a:t>Sistema asistido de triaje operativo para la UOIT mediante Machine Learning supervisado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 /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DESAFÍO OPERATIVO: EL PROBLEMA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En la guardia de operaciones e infraestructura (UOIT), el triaje manual de tickets genera cuellos de botella y demoras en la respuesta ante caídas de servicios.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La clasificación inicial requiere interpretar con rapidez y precisión el título y la descripción preliminar disponibles al momento del registro, antes del diagnóstico técnico.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SOLUCIÓN PROPUESTA: SISTEMA ASISTIDO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Prototipo funcional desacoplado que recibe el ticket preliminar y sugiere la categoría técnica resolutora para apoyar la toma de decisiones del operador de guardia.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Entrega un ranking probabilístico ordenado con Top-3 y explicabilidad léxica en tiempo real, operando como herramienta de triaje asistido en CPU (&lt; 20 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FLUJO DE CLASIFICACIÓN ASISTIDA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Título + Descripción Inicial   ──▶   Clasificador Supervisado ML   ──▶   Categoría Sugerida (Top-3)   ──▶   Revisión Humana Técnica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8348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CINCO CATEGORÍAS RESOLUTORAS DE INFRAESTRUCTURA UOIT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1. Aplicaciones y servicios (microservicios, APIs, errores 500)  •  2. Bases de datos (PostgreSQL/Oracle, PgBouncer, réplicas)  •  3. Redes y conectividad (enlaces WAN, switches VLAN, DNS)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4. Infraestructura y almacenamiento (VMware ESXi, arreglos RAID, SAN)  •  5. Seguridad y accesos (Directorio Activo, Keycloak SSO, SSL expirados)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Dataset y Estrategia de Validación</a:t>
            </a:r>
          </a:p>
          <a:p>
            <a:pPr>
              <a:defRPr sz="1300">
                <a:solidFill>
                  <a:srgbClr val="0284C7"/>
                </a:solidFill>
                <a:latin typeface="Arial"/>
              </a:defRPr>
            </a:pPr>
            <a:r>
              <a:t>Generación determinista y prevención estricta de fuga de información (Data Leakage)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2 /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84C7"/>
                </a:solidFill>
              </a:defRPr>
            </a:pPr>
            <a:r>
              <a:t>720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Incidentes Sintéticos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100% deterministas (SEED=42)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417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84C7"/>
                </a:solidFill>
              </a:defRPr>
            </a:pPr>
            <a:r>
              <a:t>40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Familias Técnicas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Disjuntas por event_group_id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417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84C7"/>
                </a:solidFill>
              </a:defRPr>
            </a:pPr>
            <a:r>
              <a:t>5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Categorías Técnicas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Balance exacto (144 por clase)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4688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417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284C7"/>
                </a:solidFill>
              </a:defRPr>
            </a:pPr>
            <a:r>
              <a:t>18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Variantes por Familia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Diversidad léxica y sintáctica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69848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0332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PARTICIONADO AGRUPADO POR FAMILIAS DISJUNTAS (GROUP SPLIT)</a:t>
            </a:r>
          </a:p>
          <a:p>
            <a:pPr>
              <a:defRPr sz="1300" b="1">
                <a:solidFill>
                  <a:srgbClr val="334155"/>
                </a:solidFill>
              </a:defRPr>
            </a:pPr>
            <a:r>
              <a:t>•  ENTRENAMIENTO (Train): 450 incidentes  |  25 familias técnicas (5 por categoría)  |  Proporción: 62.5%</a:t>
            </a:r>
          </a:p>
          <a:p>
            <a:pPr>
              <a:defRPr sz="1300" b="1">
                <a:solidFill>
                  <a:srgbClr val="334155"/>
                </a:solidFill>
              </a:defRPr>
            </a:pPr>
            <a:r>
              <a:t>•  VALIDACIÓN (Validation): 90 incidentes  |  5 familias técnicas (1 por categoría)  |  Proporción: 12.5%</a:t>
            </a:r>
          </a:p>
          <a:p>
            <a:pPr>
              <a:defRPr sz="1300" b="1">
                <a:solidFill>
                  <a:srgbClr val="334155"/>
                </a:solidFill>
              </a:defRPr>
            </a:pPr>
            <a:r>
              <a:t>•  PRUEBA FINAL (Test): 180 incidentes  |  10 familias técnicas (2 por categoría)  |  Proporción: 25.0%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10698480" cy="16459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PRINCIPIO METODOLÓGICO CLAVE: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«Las familias permanecen completas en una única partición para evitar fuga de información por memorización de plantillas.»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Entrada admitida en inferencia: Exclusivamente título y descripción inicial.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• Prohibición estricta de fuga: Rechazo formal (HTTP 422) de campos como solución, causa raíz o técnico asignado.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Comparación Experimental de Enfoques</a:t>
            </a:r>
          </a:p>
          <a:p>
            <a:pPr>
              <a:defRPr sz="1300">
                <a:solidFill>
                  <a:srgbClr val="0284C7"/>
                </a:solidFill>
                <a:latin typeface="Arial"/>
              </a:defRPr>
            </a:pPr>
            <a:r>
              <a:t>Evaluación rigurosa bajo estricto congelamiento metodológico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3 /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1. REFERENCIA HEURÍSTICA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Reglas de palabras clave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Conteo determinista de términos técnicos característicos de la UOIT. Asigna por mayor coincidencia o categoría de respaldo.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━━━━━━━━━━━━━━━━━━━━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Macro-F1 TEST: 0.8793</a:t>
            </a:r>
          </a:p>
          <a:p>
            <a:pPr>
              <a:defRPr sz="1100" b="1">
                <a:solidFill>
                  <a:srgbClr val="334155"/>
                </a:solidFill>
              </a:defRPr>
            </a:pPr>
            <a:r>
              <a:t>Accuracy TEST: 88.89%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3108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803D"/>
                </a:solidFill>
              </a:defRPr>
            </a:pPr>
            <a:r>
              <a:t>2. LÍNEA BASE LINEAL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Dual TF-IDF + LogisticRegression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N-gramas de palabras (1-2) + n-gramas de caracteres (3-5) en FeatureUnion con LogisticRegression (C=1.0).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━━━━━━━━━━━━━━━━━━━━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Macro-F1 TEST: 0.7719</a:t>
            </a:r>
          </a:p>
          <a:p>
            <a:pPr>
              <a:defRPr sz="1100" b="1">
                <a:solidFill>
                  <a:srgbClr val="334155"/>
                </a:solidFill>
              </a:defRPr>
            </a:pPr>
            <a:r>
              <a:t>Accuracy TEST: 78.89% | Top-3: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46304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3. MODELO PROPUESTO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Transformer MiniLM Congelado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Embeddings densos de 384 dimensiones (MiniLM-L12-v2 congelado) + LogisticRegression (C=1.0).</a:t>
            </a:r>
          </a:p>
          <a:p>
            <a:pPr>
              <a:defRPr sz="800">
                <a:solidFill>
                  <a:srgbClr val="64748B"/>
                </a:solidFill>
              </a:defRPr>
            </a:pPr>
            <a:r>
              <a:t>━━━━━━━━━━━━━━━━━━━━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Macro-F1 TEST: 0.6592</a:t>
            </a:r>
          </a:p>
          <a:p>
            <a:pPr>
              <a:defRPr sz="1100" b="1">
                <a:solidFill>
                  <a:srgbClr val="334155"/>
                </a:solidFill>
              </a:defRPr>
            </a:pPr>
            <a:r>
              <a:t>Accuracy TEST: 70.00% | Top-3: 96.1%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PROTOCOLO DE SELECCIÓN EN VALIDACIÓN Y HALLAZGO TÉCNICO: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«Modelo operativo seleccionado previamente en VALIDATION: Línea base — Macro-F1 0.9423 frente a 0.7822 del Transformer.»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Mensaje Principal: Mayor complejidad no implicó mejor generalización. Los n-gramas de caracteres sub-palabra capturan identificadores especializados (pg_wal, esxi, bgp, raid5) con mayor nitidez que embeddings generales congelados sin ajuste fino.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En Test, la referencia heurística alcanzó el mayor Macro-F1 (0.8793), confirmando el alto valor de reglas léxicas en vocabularios técnicos cerrados. Dicho resultado no fue utilizado para cambiar el modelo operativo.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Sistema Funcional y Demostración</a:t>
            </a:r>
          </a:p>
          <a:p>
            <a:pPr>
              <a:defRPr sz="1300">
                <a:solidFill>
                  <a:srgbClr val="0284C7"/>
                </a:solidFill>
                <a:latin typeface="Arial"/>
              </a:defRPr>
            </a:pPr>
            <a:r>
              <a:t>Arquitectura de software desacoplada, API REST e interfaz interactiva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4 /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5394960" cy="33718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371600"/>
            <a:ext cx="4937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4630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ARQUITECTURA DE SOFTWARE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Frontend Web (HTML/JS)  →  FastAPI REST Server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Validación Pydantic (extra='forbid')  →  Pipeline Scikit-Learn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Inferencia real en CPU con latencia inferior a 20 ms.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Desglose probabilístico Top-3 y señales explicativas léxicas.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520440"/>
            <a:ext cx="493776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3611880"/>
            <a:ext cx="46634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TRES CASOS DEMOSTRATIVOS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A. Caso Válido (Bases de Datos):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Saturación de PgBouncer en PostgreSQL  →  Inferencia con puntaje &gt; 80% en 'Bases de datos' y señales claras.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B. Caso Ambiguo (Competencia de Clases):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Error 500 y timeout en reportes  →  Puntajes repartidos entre 'Aplicaciones' y 'Bases de datos' en Top-3.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C. Entrada Inválida (Violación de Contrato):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Texto telegráfico ('Caída' / 'Error')  →  Interceptado formalmente con código HTTP 422.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Conclusiones, Limitaciones y Repositorio</a:t>
            </a:r>
          </a:p>
          <a:p>
            <a:pPr>
              <a:defRPr sz="1300">
                <a:solidFill>
                  <a:srgbClr val="0284C7"/>
                </a:solidFill>
                <a:latin typeface="Arial"/>
              </a:defRPr>
            </a:pPr>
            <a:r>
              <a:t>Síntesis académica y consideraciones para la adopción institucional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365760"/>
            <a:ext cx="7315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5 /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CONCLUSIONES TÉCNICAS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1. Flujo Completo Implementado: Se diseñó, validó y desplegó el pipeline supervisado completo bajo estricto congelamiento.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2. Superioridad de la Línea Base: La extracción sub-palabra (char_wb) superó a los embeddings congelados del Transformer en Validación (0.9423 vs 0.7822) y Test.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3. Efectividad Heurística: Las reglas simples obtuvieron el mayor Macro-F1 en Test (0.8793), demostrando que mayor complejidad no asegura mejor generalización.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4. Exactitud Top-3 del 100%: En el 100% de los incidentes de test, el área resolutora correcta estuvo dentro de las 3 opciones sugeridas al operador.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LIMITACIONES METODOLÓGICAS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1. Dataset Sintético: 720 incidentes en 40 familias. Presenta mayor regularidad y separabilidad léxica que tickets humanos reales.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2. Taxonomía Cerrada: Clasificación mono-etiqueta en 5 categorías primarias. No modela fallos compuestos simultáneos.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3. Transformer Congelado: Evaluado sin fine-tuning supervisado por restricciones de cómputo en CPU.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4. Puntajes No Calibrados: Las salidas son puntajes relativos del modelo y no probabilidades calibradas de acierto absoluto.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5. Validación en Piloto Requerida: Los resultados no demuestran eficacia en producción sin un piloto previo con incidentes reales anonimizados.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«El sistema asiste al operador; no reemplaza su criterio técnico.»</a:t>
            </a:r>
          </a:p>
          <a:p>
            <a:pPr algn="ctr">
              <a:defRPr sz="1100">
                <a:solidFill>
                  <a:srgbClr val="0284C7"/>
                </a:solidFill>
              </a:defRPr>
            </a:pPr>
            <a:r>
              <a:t>Repositorio Oficial: https://github.com/juan-serrudo/sig-incidentes   |   34 pruebas pytest aprobadas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